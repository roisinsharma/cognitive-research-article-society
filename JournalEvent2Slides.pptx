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2"/>
  </p:notesMasterIdLst>
  <p:handoutMasterIdLst>
    <p:handoutMasterId r:id="rId13"/>
  </p:handoutMasterIdLst>
  <p:sldIdLst>
    <p:sldId id="340" r:id="rId5"/>
    <p:sldId id="342" r:id="rId6"/>
    <p:sldId id="356" r:id="rId7"/>
    <p:sldId id="357" r:id="rId8"/>
    <p:sldId id="358" r:id="rId9"/>
    <p:sldId id="359" r:id="rId10"/>
    <p:sldId id="360"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A6FC"/>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autoAdjust="0"/>
  </p:normalViewPr>
  <p:slideViewPr>
    <p:cSldViewPr snapToGrid="0">
      <p:cViewPr varScale="1">
        <p:scale>
          <a:sx n="59" d="100"/>
          <a:sy n="59" d="100"/>
        </p:scale>
        <p:origin x="964" y="56"/>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5/7/2026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5/7/2026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2</a:t>
            </a:fld>
            <a:endParaRPr lang="en-US" dirty="0"/>
          </a:p>
        </p:txBody>
      </p:sp>
    </p:spTree>
    <p:extLst>
      <p:ext uri="{BB962C8B-B14F-4D97-AF65-F5344CB8AC3E}">
        <p14:creationId xmlns:p14="http://schemas.microsoft.com/office/powerpoint/2010/main" val="24033993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60738-DB85-D067-4536-71A9993E4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23EBAB-9684-7A4E-2A5F-F98E00B51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940F59-6B13-C9F6-7206-A89736412F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77C028-5FB0-5F04-5EB9-0B570A31DCAF}"/>
              </a:ext>
            </a:extLst>
          </p:cNvPr>
          <p:cNvSpPr>
            <a:spLocks noGrp="1"/>
          </p:cNvSpPr>
          <p:nvPr>
            <p:ph type="sldNum" sz="quarter" idx="5"/>
          </p:nvPr>
        </p:nvSpPr>
        <p:spPr/>
        <p:txBody>
          <a:bodyPr/>
          <a:lstStyle/>
          <a:p>
            <a:fld id="{17732C3C-A191-48C2-A7E8-9C96AF841A7A}" type="slidenum">
              <a:rPr lang="en-US" smtClean="0"/>
              <a:t>3</a:t>
            </a:fld>
            <a:endParaRPr lang="en-US" dirty="0"/>
          </a:p>
        </p:txBody>
      </p:sp>
    </p:spTree>
    <p:extLst>
      <p:ext uri="{BB962C8B-B14F-4D97-AF65-F5344CB8AC3E}">
        <p14:creationId xmlns:p14="http://schemas.microsoft.com/office/powerpoint/2010/main" val="13465181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40F5-09A0-D75F-1EA0-D52215BA78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B6A523-DAA2-BECE-5DE4-9251878AF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CEE5BB-B989-9E39-62F3-9062E108AB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1F99AC-2ACC-7D4F-9A8F-E3BA1824AAB4}"/>
              </a:ext>
            </a:extLst>
          </p:cNvPr>
          <p:cNvSpPr>
            <a:spLocks noGrp="1"/>
          </p:cNvSpPr>
          <p:nvPr>
            <p:ph type="sldNum" sz="quarter" idx="5"/>
          </p:nvPr>
        </p:nvSpPr>
        <p:spPr/>
        <p:txBody>
          <a:bodyPr/>
          <a:lstStyle/>
          <a:p>
            <a:fld id="{17732C3C-A191-48C2-A7E8-9C96AF841A7A}" type="slidenum">
              <a:rPr lang="en-US" smtClean="0"/>
              <a:t>4</a:t>
            </a:fld>
            <a:endParaRPr lang="en-US" dirty="0"/>
          </a:p>
        </p:txBody>
      </p:sp>
    </p:spTree>
    <p:extLst>
      <p:ext uri="{BB962C8B-B14F-4D97-AF65-F5344CB8AC3E}">
        <p14:creationId xmlns:p14="http://schemas.microsoft.com/office/powerpoint/2010/main" val="908832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E23B-3114-BEE8-9ED9-C0ECB1334B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804E6-6C07-AC19-0EE4-43ECDC8BC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F7C9A6-4169-4506-EA97-664F2D444C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F6D64E-B7DE-DA4E-0686-BA8112991A58}"/>
              </a:ext>
            </a:extLst>
          </p:cNvPr>
          <p:cNvSpPr>
            <a:spLocks noGrp="1"/>
          </p:cNvSpPr>
          <p:nvPr>
            <p:ph type="sldNum" sz="quarter" idx="5"/>
          </p:nvPr>
        </p:nvSpPr>
        <p:spPr/>
        <p:txBody>
          <a:bodyPr/>
          <a:lstStyle/>
          <a:p>
            <a:fld id="{17732C3C-A191-48C2-A7E8-9C96AF841A7A}" type="slidenum">
              <a:rPr lang="en-US" smtClean="0"/>
              <a:t>5</a:t>
            </a:fld>
            <a:endParaRPr lang="en-US" dirty="0"/>
          </a:p>
        </p:txBody>
      </p:sp>
    </p:spTree>
    <p:extLst>
      <p:ext uri="{BB962C8B-B14F-4D97-AF65-F5344CB8AC3E}">
        <p14:creationId xmlns:p14="http://schemas.microsoft.com/office/powerpoint/2010/main" val="180245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63F9F-9BA5-5903-D589-C5F924E460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AE569-41D1-A8C2-58BC-7985CEF2CD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EAA952-E8A5-7F53-A62E-134904D0C0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0D81E6-15E7-DC63-4FF7-832CFF07534A}"/>
              </a:ext>
            </a:extLst>
          </p:cNvPr>
          <p:cNvSpPr>
            <a:spLocks noGrp="1"/>
          </p:cNvSpPr>
          <p:nvPr>
            <p:ph type="sldNum" sz="quarter" idx="5"/>
          </p:nvPr>
        </p:nvSpPr>
        <p:spPr/>
        <p:txBody>
          <a:bodyPr/>
          <a:lstStyle/>
          <a:p>
            <a:fld id="{17732C3C-A191-48C2-A7E8-9C96AF841A7A}" type="slidenum">
              <a:rPr lang="en-US" smtClean="0"/>
              <a:t>6</a:t>
            </a:fld>
            <a:endParaRPr lang="en-US" dirty="0"/>
          </a:p>
        </p:txBody>
      </p:sp>
    </p:spTree>
    <p:extLst>
      <p:ext uri="{BB962C8B-B14F-4D97-AF65-F5344CB8AC3E}">
        <p14:creationId xmlns:p14="http://schemas.microsoft.com/office/powerpoint/2010/main" val="245437602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GB"/>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577445" y="157637"/>
            <a:ext cx="4851694" cy="2190705"/>
          </a:xfrm>
          <a:noFill/>
          <a:effectLst/>
        </p:spPr>
        <p:txBody>
          <a:bodyPr anchor="b"/>
          <a:lstStyle>
            <a:lvl1pPr algn="l">
              <a:defRPr sz="3600" spc="0" baseline="0">
                <a:solidFill>
                  <a:schemeClr val="accent1">
                    <a:lumMod val="50000"/>
                  </a:schemeClr>
                </a:solidFill>
                <a:effectLst/>
              </a:defRPr>
            </a:lvl1pPr>
          </a:lstStyle>
          <a:p>
            <a:r>
              <a:rPr lang="en-GB"/>
              <a:t>Click to edit Master title style</a:t>
            </a:r>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380999" y="422551"/>
            <a:ext cx="5124893"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3429000"/>
            <a:ext cx="4589830"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123686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icture Placeholder 11">
            <a:extLst>
              <a:ext uri="{FF2B5EF4-FFF2-40B4-BE49-F238E27FC236}">
                <a16:creationId xmlns:a16="http://schemas.microsoft.com/office/drawing/2014/main" id="{7347A5B6-0F99-C044-C209-F3190EEFA371}"/>
              </a:ext>
            </a:extLst>
          </p:cNvPr>
          <p:cNvSpPr>
            <a:spLocks noGrp="1"/>
          </p:cNvSpPr>
          <p:nvPr>
            <p:ph type="pic" sz="quarter" idx="11"/>
          </p:nvPr>
        </p:nvSpPr>
        <p:spPr>
          <a:xfrm>
            <a:off x="1236663" y="776288"/>
            <a:ext cx="3433762" cy="5018087"/>
          </a:xfrm>
        </p:spPr>
        <p:txBody>
          <a:bodyPr anchor="t"/>
          <a:lstStyle>
            <a:lvl1pPr marL="0" indent="0" algn="ctr">
              <a:buNone/>
              <a:defRPr/>
            </a:lvl1pPr>
          </a:lstStyle>
          <a:p>
            <a:r>
              <a:rPr lang="en-GB"/>
              <a:t>Click icon to add picture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592615" y="2505979"/>
            <a:ext cx="4837385" cy="3926717"/>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399011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153836" y="1371602"/>
            <a:ext cx="6177309" cy="1953489"/>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a:off x="5153836" y="3446156"/>
            <a:ext cx="6177309" cy="0"/>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5153836" y="3745924"/>
            <a:ext cx="6177309" cy="2238918"/>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GB"/>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GB"/>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GB"/>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5/7/2026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810001" y="3112770"/>
            <a:ext cx="10571998" cy="2235759"/>
          </a:xfrm>
        </p:spPr>
        <p:txBody>
          <a:bodyPr/>
          <a:lstStyle/>
          <a:p>
            <a:r>
              <a:rPr lang="en-GB" sz="4400" dirty="0">
                <a:solidFill>
                  <a:srgbClr val="CFA6FC"/>
                </a:solidFill>
              </a:rPr>
              <a:t>The neural correlates of shared and individual experience- Coppola et al. (2026)</a:t>
            </a:r>
          </a:p>
        </p:txBody>
      </p:sp>
      <p:pic>
        <p:nvPicPr>
          <p:cNvPr id="4" name="Picture 3">
            <a:extLst>
              <a:ext uri="{FF2B5EF4-FFF2-40B4-BE49-F238E27FC236}">
                <a16:creationId xmlns:a16="http://schemas.microsoft.com/office/drawing/2014/main" id="{4C3FDE52-802B-6858-DF38-9AAFE6B9A096}"/>
              </a:ext>
            </a:extLst>
          </p:cNvPr>
          <p:cNvPicPr>
            <a:picLocks noChangeAspect="1"/>
          </p:cNvPicPr>
          <p:nvPr/>
        </p:nvPicPr>
        <p:blipFill>
          <a:blip r:embed="rId3"/>
          <a:stretch>
            <a:fillRect/>
          </a:stretch>
        </p:blipFill>
        <p:spPr>
          <a:xfrm>
            <a:off x="461658" y="443768"/>
            <a:ext cx="1519542" cy="1744917"/>
          </a:xfrm>
          <a:prstGeom prst="rect">
            <a:avLst/>
          </a:prstGeom>
        </p:spPr>
      </p:pic>
      <p:sp>
        <p:nvSpPr>
          <p:cNvPr id="5" name="Title 1">
            <a:extLst>
              <a:ext uri="{FF2B5EF4-FFF2-40B4-BE49-F238E27FC236}">
                <a16:creationId xmlns:a16="http://schemas.microsoft.com/office/drawing/2014/main" id="{88B8D62C-C08E-9BD8-222D-DF437CD8783A}"/>
              </a:ext>
            </a:extLst>
          </p:cNvPr>
          <p:cNvSpPr txBox="1">
            <a:spLocks/>
          </p:cNvSpPr>
          <p:nvPr/>
        </p:nvSpPr>
        <p:spPr>
          <a:xfrm>
            <a:off x="1366157" y="1111690"/>
            <a:ext cx="9459686" cy="1515661"/>
          </a:xfrm>
          <a:prstGeom prst="rect">
            <a:avLst/>
          </a:prstGeom>
          <a:ln>
            <a:noFill/>
          </a:ln>
          <a:effectLst/>
        </p:spPr>
        <p:txBody>
          <a:bodyPr vert="horz" lIns="91440" tIns="45720" rIns="91440" bIns="45720" rtlCol="0" anchor="b">
            <a:noAutofit/>
          </a:bodyPr>
          <a:lstStyle>
            <a:lvl1pPr algn="ctr" defTabSz="457200" rtl="0" eaLnBrk="1" latinLnBrk="0" hangingPunct="1">
              <a:spcBef>
                <a:spcPct val="0"/>
              </a:spcBef>
              <a:buNone/>
              <a:defRPr sz="7200" b="1" kern="1200" spc="-300" baseline="0">
                <a:ln>
                  <a:noFill/>
                </a:ln>
                <a:solidFill>
                  <a:schemeClr val="accent4">
                    <a:lumMod val="60000"/>
                    <a:lumOff val="40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4400" i="1" u="sng" dirty="0">
                <a:solidFill>
                  <a:srgbClr val="CFA6FC"/>
                </a:solidFill>
              </a:rPr>
              <a:t>Cognitive Research Article Society Journal Event</a:t>
            </a:r>
            <a:endParaRPr lang="en-US" sz="4400" u="sng" dirty="0">
              <a:solidFill>
                <a:srgbClr val="CFA6FC"/>
              </a:solidFill>
            </a:endParaRPr>
          </a:p>
        </p:txBody>
      </p:sp>
      <p:sp>
        <p:nvSpPr>
          <p:cNvPr id="6" name="Title 1">
            <a:extLst>
              <a:ext uri="{FF2B5EF4-FFF2-40B4-BE49-F238E27FC236}">
                <a16:creationId xmlns:a16="http://schemas.microsoft.com/office/drawing/2014/main" id="{D59AB5B1-F219-EFE0-6A63-5FB371F70F3F}"/>
              </a:ext>
            </a:extLst>
          </p:cNvPr>
          <p:cNvSpPr txBox="1">
            <a:spLocks/>
          </p:cNvSpPr>
          <p:nvPr/>
        </p:nvSpPr>
        <p:spPr>
          <a:xfrm>
            <a:off x="7043057" y="0"/>
            <a:ext cx="5301342" cy="553826"/>
          </a:xfrm>
          <a:prstGeom prst="rect">
            <a:avLst/>
          </a:prstGeom>
          <a:ln>
            <a:noFill/>
          </a:ln>
          <a:effectLst/>
        </p:spPr>
        <p:txBody>
          <a:bodyPr vert="horz" lIns="91440" tIns="45720" rIns="91440" bIns="45720" rtlCol="0" anchor="b">
            <a:noAutofit/>
          </a:bodyPr>
          <a:lstStyle>
            <a:lvl1pPr algn="ctr" defTabSz="457200" rtl="0" eaLnBrk="1" latinLnBrk="0" hangingPunct="1">
              <a:spcBef>
                <a:spcPct val="0"/>
              </a:spcBef>
              <a:buNone/>
              <a:defRPr sz="7200" b="1" kern="1200" spc="-300" baseline="0">
                <a:ln>
                  <a:noFill/>
                </a:ln>
                <a:solidFill>
                  <a:schemeClr val="accent4">
                    <a:lumMod val="60000"/>
                    <a:lumOff val="40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800" b="0" dirty="0">
                <a:solidFill>
                  <a:srgbClr val="CFA6FC"/>
                </a:solidFill>
              </a:rPr>
              <a:t>07/05/2026 Fulton 102 17:00</a:t>
            </a:r>
            <a:endParaRPr lang="en-US" sz="2800" b="0" dirty="0">
              <a:solidFill>
                <a:srgbClr val="CFA6FC"/>
              </a:solidFill>
            </a:endParaRPr>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CF8F5-609D-E31E-6659-2E3CE63097D7}"/>
              </a:ext>
            </a:extLst>
          </p:cNvPr>
          <p:cNvSpPr>
            <a:spLocks noGrp="1"/>
          </p:cNvSpPr>
          <p:nvPr>
            <p:ph type="title"/>
          </p:nvPr>
        </p:nvSpPr>
        <p:spPr>
          <a:xfrm>
            <a:off x="809999" y="1707565"/>
            <a:ext cx="10571998" cy="1928264"/>
          </a:xfrm>
        </p:spPr>
        <p:txBody>
          <a:bodyPr/>
          <a:lstStyle/>
          <a:p>
            <a:pPr lvl="0"/>
            <a:r>
              <a:rPr lang="en-US" dirty="0">
                <a:solidFill>
                  <a:srgbClr val="CFA6FC"/>
                </a:solidFill>
              </a:rPr>
              <a:t>1. </a:t>
            </a:r>
            <a:r>
              <a:rPr lang="en-GB" dirty="0">
                <a:solidFill>
                  <a:srgbClr val="CFA6FC"/>
                </a:solidFill>
              </a:rPr>
              <a:t>Understanding refresher</a:t>
            </a:r>
            <a:endParaRPr lang="en-US" noProof="0" dirty="0">
              <a:solidFill>
                <a:srgbClr val="CFA6FC"/>
              </a:solidFill>
            </a:endParaRPr>
          </a:p>
        </p:txBody>
      </p:sp>
      <p:sp>
        <p:nvSpPr>
          <p:cNvPr id="3" name="Subtitle 2">
            <a:extLst>
              <a:ext uri="{FF2B5EF4-FFF2-40B4-BE49-F238E27FC236}">
                <a16:creationId xmlns:a16="http://schemas.microsoft.com/office/drawing/2014/main" id="{29F16AEF-ABBB-D2DD-A297-5819AEB9AF67}"/>
              </a:ext>
            </a:extLst>
          </p:cNvPr>
          <p:cNvSpPr>
            <a:spLocks noGrp="1"/>
          </p:cNvSpPr>
          <p:nvPr>
            <p:ph type="subTitle" idx="1"/>
          </p:nvPr>
        </p:nvSpPr>
        <p:spPr>
          <a:xfrm>
            <a:off x="809999" y="3918857"/>
            <a:ext cx="10572000" cy="2217484"/>
          </a:xfrm>
        </p:spPr>
        <p:txBody>
          <a:bodyPr>
            <a:normAutofit/>
          </a:bodyPr>
          <a:lstStyle/>
          <a:p>
            <a:r>
              <a:rPr lang="en-GB" dirty="0">
                <a:solidFill>
                  <a:srgbClr val="CFA6FC"/>
                </a:solidFill>
              </a:rPr>
              <a:t>fMRI</a:t>
            </a:r>
          </a:p>
          <a:p>
            <a:r>
              <a:rPr lang="en-GB" dirty="0">
                <a:solidFill>
                  <a:srgbClr val="CFA6FC"/>
                </a:solidFill>
              </a:rPr>
              <a:t>- Time-by-time similarity matrix (TTM)</a:t>
            </a:r>
          </a:p>
          <a:p>
            <a:r>
              <a:rPr lang="en-GB" dirty="0">
                <a:solidFill>
                  <a:srgbClr val="CFA6FC"/>
                </a:solidFill>
              </a:rPr>
              <a:t>- Instantaneous Phase Synchrony (IPS)</a:t>
            </a:r>
          </a:p>
          <a:p>
            <a:r>
              <a:rPr lang="en-GB" dirty="0">
                <a:solidFill>
                  <a:srgbClr val="CFA6FC"/>
                </a:solidFill>
              </a:rPr>
              <a:t>- Networks suggested to be relevant to conscious experience in the study and support individual + shared experience: default mode network (DNM), dorsal attention network (DAN) and auditory networks (AUD)</a:t>
            </a:r>
          </a:p>
          <a:p>
            <a:pPr lvl="0"/>
            <a:endParaRPr lang="en-US" noProof="0" dirty="0"/>
          </a:p>
        </p:txBody>
      </p:sp>
    </p:spTree>
    <p:extLst>
      <p:ext uri="{BB962C8B-B14F-4D97-AF65-F5344CB8AC3E}">
        <p14:creationId xmlns:p14="http://schemas.microsoft.com/office/powerpoint/2010/main" val="1173936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a:extLst>
            <a:ext uri="{FF2B5EF4-FFF2-40B4-BE49-F238E27FC236}">
              <a16:creationId xmlns:a16="http://schemas.microsoft.com/office/drawing/2014/main" id="{C7D656F7-54D4-3710-B1C5-EB62BEA1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2732F-2705-77B9-73EE-1AD70082C9FB}"/>
              </a:ext>
            </a:extLst>
          </p:cNvPr>
          <p:cNvSpPr>
            <a:spLocks noGrp="1"/>
          </p:cNvSpPr>
          <p:nvPr>
            <p:ph type="title"/>
          </p:nvPr>
        </p:nvSpPr>
        <p:spPr>
          <a:xfrm>
            <a:off x="810001" y="2464868"/>
            <a:ext cx="10571998" cy="1928264"/>
          </a:xfrm>
        </p:spPr>
        <p:txBody>
          <a:bodyPr/>
          <a:lstStyle/>
          <a:p>
            <a:pPr lvl="0"/>
            <a:r>
              <a:rPr lang="en-GB" dirty="0">
                <a:solidFill>
                  <a:srgbClr val="CFA6FC"/>
                </a:solidFill>
              </a:rPr>
              <a:t>2. How is ‘consciousness’ defined here, and does this differ from other definitions you’ve encountered? How does this affect comparisons across consciousness research?</a:t>
            </a:r>
            <a:endParaRPr lang="en-US" noProof="0" dirty="0">
              <a:solidFill>
                <a:srgbClr val="CFA6FC"/>
              </a:solidFill>
            </a:endParaRPr>
          </a:p>
        </p:txBody>
      </p:sp>
      <p:sp>
        <p:nvSpPr>
          <p:cNvPr id="3" name="Subtitle 2">
            <a:extLst>
              <a:ext uri="{FF2B5EF4-FFF2-40B4-BE49-F238E27FC236}">
                <a16:creationId xmlns:a16="http://schemas.microsoft.com/office/drawing/2014/main" id="{D2D4B3D4-966D-23ED-9D7B-C2E9F8230323}"/>
              </a:ext>
            </a:extLst>
          </p:cNvPr>
          <p:cNvSpPr>
            <a:spLocks noGrp="1"/>
          </p:cNvSpPr>
          <p:nvPr>
            <p:ph type="subTitle" idx="1"/>
          </p:nvPr>
        </p:nvSpPr>
        <p:spPr>
          <a:xfrm>
            <a:off x="809999" y="4847988"/>
            <a:ext cx="10572000" cy="896468"/>
          </a:xfrm>
        </p:spPr>
        <p:txBody>
          <a:bodyPr/>
          <a:lstStyle/>
          <a:p>
            <a:pPr lvl="0"/>
            <a:endParaRPr lang="en-US" noProof="0" dirty="0"/>
          </a:p>
        </p:txBody>
      </p:sp>
    </p:spTree>
    <p:extLst>
      <p:ext uri="{BB962C8B-B14F-4D97-AF65-F5344CB8AC3E}">
        <p14:creationId xmlns:p14="http://schemas.microsoft.com/office/powerpoint/2010/main" val="14682150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a:extLst>
            <a:ext uri="{FF2B5EF4-FFF2-40B4-BE49-F238E27FC236}">
              <a16:creationId xmlns:a16="http://schemas.microsoft.com/office/drawing/2014/main" id="{63B21452-F887-CAEC-61A9-07F3827376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0ADF1-FA2E-CDA5-EC8A-9BD0E4E1E559}"/>
              </a:ext>
            </a:extLst>
          </p:cNvPr>
          <p:cNvSpPr>
            <a:spLocks noGrp="1"/>
          </p:cNvSpPr>
          <p:nvPr>
            <p:ph type="title"/>
          </p:nvPr>
        </p:nvSpPr>
        <p:spPr>
          <a:xfrm>
            <a:off x="810002" y="2464868"/>
            <a:ext cx="10571998" cy="1928264"/>
          </a:xfrm>
        </p:spPr>
        <p:txBody>
          <a:bodyPr/>
          <a:lstStyle/>
          <a:p>
            <a:pPr lvl="0"/>
            <a:r>
              <a:rPr lang="en-GB" dirty="0">
                <a:solidFill>
                  <a:srgbClr val="CFA6FC"/>
                </a:solidFill>
              </a:rPr>
              <a:t>3. How do the authors create a distinction between shared and individual consciousness, and what do you think of this?</a:t>
            </a:r>
            <a:endParaRPr lang="en-US" noProof="0" dirty="0">
              <a:solidFill>
                <a:srgbClr val="CFA6FC"/>
              </a:solidFill>
            </a:endParaRPr>
          </a:p>
        </p:txBody>
      </p:sp>
      <p:sp>
        <p:nvSpPr>
          <p:cNvPr id="5" name="Subtitle 4">
            <a:extLst>
              <a:ext uri="{FF2B5EF4-FFF2-40B4-BE49-F238E27FC236}">
                <a16:creationId xmlns:a16="http://schemas.microsoft.com/office/drawing/2014/main" id="{30182F91-3F4A-9B57-9266-DBC29482F75F}"/>
              </a:ext>
            </a:extLst>
          </p:cNvPr>
          <p:cNvSpPr>
            <a:spLocks noGrp="1"/>
          </p:cNvSpPr>
          <p:nvPr>
            <p:ph type="subTitle" idx="1"/>
          </p:nvPr>
        </p:nvSpPr>
        <p:spPr>
          <a:xfrm>
            <a:off x="810000" y="5033045"/>
            <a:ext cx="10572000" cy="896468"/>
          </a:xfrm>
        </p:spPr>
        <p:txBody>
          <a:bodyPr/>
          <a:lstStyle/>
          <a:p>
            <a:endParaRPr lang="en-GB" dirty="0"/>
          </a:p>
        </p:txBody>
      </p:sp>
    </p:spTree>
    <p:extLst>
      <p:ext uri="{BB962C8B-B14F-4D97-AF65-F5344CB8AC3E}">
        <p14:creationId xmlns:p14="http://schemas.microsoft.com/office/powerpoint/2010/main" val="36646526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a:extLst>
            <a:ext uri="{FF2B5EF4-FFF2-40B4-BE49-F238E27FC236}">
              <a16:creationId xmlns:a16="http://schemas.microsoft.com/office/drawing/2014/main" id="{C1DEBCD4-176E-C032-D050-D0F269B227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A620C0-A798-0752-DAD7-F5AD14243FC2}"/>
              </a:ext>
            </a:extLst>
          </p:cNvPr>
          <p:cNvSpPr>
            <a:spLocks noGrp="1"/>
          </p:cNvSpPr>
          <p:nvPr>
            <p:ph type="title"/>
          </p:nvPr>
        </p:nvSpPr>
        <p:spPr>
          <a:xfrm>
            <a:off x="810001" y="1871693"/>
            <a:ext cx="10571998" cy="1928264"/>
          </a:xfrm>
        </p:spPr>
        <p:txBody>
          <a:bodyPr/>
          <a:lstStyle/>
          <a:p>
            <a:r>
              <a:rPr lang="en-GB" dirty="0">
                <a:solidFill>
                  <a:srgbClr val="CFA6FC"/>
                </a:solidFill>
              </a:rPr>
              <a:t>4. Discuss the limitations of the paper, and suggest ways these could have been overcome</a:t>
            </a:r>
            <a:endParaRPr lang="en-US" noProof="0" dirty="0">
              <a:solidFill>
                <a:srgbClr val="CFA6FC"/>
              </a:solidFill>
            </a:endParaRPr>
          </a:p>
        </p:txBody>
      </p:sp>
      <p:sp>
        <p:nvSpPr>
          <p:cNvPr id="5" name="Subtitle 4">
            <a:extLst>
              <a:ext uri="{FF2B5EF4-FFF2-40B4-BE49-F238E27FC236}">
                <a16:creationId xmlns:a16="http://schemas.microsoft.com/office/drawing/2014/main" id="{12AA3657-6A32-46F1-51FA-3B02897A79D3}"/>
              </a:ext>
            </a:extLst>
          </p:cNvPr>
          <p:cNvSpPr>
            <a:spLocks noGrp="1"/>
          </p:cNvSpPr>
          <p:nvPr>
            <p:ph type="subTitle" idx="1"/>
          </p:nvPr>
        </p:nvSpPr>
        <p:spPr>
          <a:xfrm>
            <a:off x="809999" y="4597617"/>
            <a:ext cx="10572000" cy="896468"/>
          </a:xfrm>
        </p:spPr>
        <p:txBody>
          <a:bodyPr/>
          <a:lstStyle/>
          <a:p>
            <a:r>
              <a:rPr lang="en-GB" dirty="0">
                <a:solidFill>
                  <a:srgbClr val="CFA6FC"/>
                </a:solidFill>
              </a:rPr>
              <a:t>- When suggesting alternative approaches, we can discuss how and to what extent that this would have impacted findings- evaluate trade-offs.</a:t>
            </a:r>
          </a:p>
        </p:txBody>
      </p:sp>
    </p:spTree>
    <p:extLst>
      <p:ext uri="{BB962C8B-B14F-4D97-AF65-F5344CB8AC3E}">
        <p14:creationId xmlns:p14="http://schemas.microsoft.com/office/powerpoint/2010/main" val="38715793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a:extLst>
            <a:ext uri="{FF2B5EF4-FFF2-40B4-BE49-F238E27FC236}">
              <a16:creationId xmlns:a16="http://schemas.microsoft.com/office/drawing/2014/main" id="{843AF76F-4997-6CF0-1EDF-C0D9C3E5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D44E93-E1CD-2854-426E-9291A4128B6D}"/>
              </a:ext>
            </a:extLst>
          </p:cNvPr>
          <p:cNvSpPr>
            <a:spLocks noGrp="1"/>
          </p:cNvSpPr>
          <p:nvPr>
            <p:ph type="title"/>
          </p:nvPr>
        </p:nvSpPr>
        <p:spPr>
          <a:xfrm>
            <a:off x="810001" y="1871693"/>
            <a:ext cx="10571998" cy="1928264"/>
          </a:xfrm>
        </p:spPr>
        <p:txBody>
          <a:bodyPr/>
          <a:lstStyle/>
          <a:p>
            <a:pPr lvl="0"/>
            <a:r>
              <a:rPr lang="en-GB" dirty="0">
                <a:solidFill>
                  <a:srgbClr val="CFA6FC"/>
                </a:solidFill>
              </a:rPr>
              <a:t>5. What strengths does this paper have? How does this improve the quality of the study?</a:t>
            </a:r>
            <a:endParaRPr lang="en-US" noProof="0" dirty="0">
              <a:solidFill>
                <a:srgbClr val="CFA6FC"/>
              </a:solidFill>
            </a:endParaRPr>
          </a:p>
        </p:txBody>
      </p:sp>
      <p:sp>
        <p:nvSpPr>
          <p:cNvPr id="5" name="Subtitle 4">
            <a:extLst>
              <a:ext uri="{FF2B5EF4-FFF2-40B4-BE49-F238E27FC236}">
                <a16:creationId xmlns:a16="http://schemas.microsoft.com/office/drawing/2014/main" id="{6EEC2A24-86E2-2EE5-0A05-FFDD546A38DC}"/>
              </a:ext>
            </a:extLst>
          </p:cNvPr>
          <p:cNvSpPr>
            <a:spLocks noGrp="1"/>
          </p:cNvSpPr>
          <p:nvPr>
            <p:ph type="subTitle" idx="1"/>
          </p:nvPr>
        </p:nvSpPr>
        <p:spPr>
          <a:xfrm>
            <a:off x="810000" y="3922702"/>
            <a:ext cx="10572000" cy="896468"/>
          </a:xfrm>
        </p:spPr>
        <p:txBody>
          <a:bodyPr/>
          <a:lstStyle/>
          <a:p>
            <a:endParaRPr lang="en-GB" dirty="0"/>
          </a:p>
        </p:txBody>
      </p:sp>
    </p:spTree>
    <p:extLst>
      <p:ext uri="{BB962C8B-B14F-4D97-AF65-F5344CB8AC3E}">
        <p14:creationId xmlns:p14="http://schemas.microsoft.com/office/powerpoint/2010/main" val="379053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FA6F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F263C-4332-8C81-71EB-E1CD2B50634F}"/>
              </a:ext>
            </a:extLst>
          </p:cNvPr>
          <p:cNvSpPr>
            <a:spLocks noGrp="1"/>
          </p:cNvSpPr>
          <p:nvPr>
            <p:ph type="title"/>
          </p:nvPr>
        </p:nvSpPr>
        <p:spPr>
          <a:xfrm>
            <a:off x="810001" y="3429000"/>
            <a:ext cx="10571998" cy="1928264"/>
          </a:xfrm>
        </p:spPr>
        <p:txBody>
          <a:bodyPr/>
          <a:lstStyle/>
          <a:p>
            <a:r>
              <a:rPr lang="en-GB" sz="2000" dirty="0">
                <a:solidFill>
                  <a:srgbClr val="CFA6FC"/>
                </a:solidFill>
              </a:rPr>
              <a:t>‘I am happy that this paper utilizes Shannon entropy! But, I remain </a:t>
            </a:r>
            <a:r>
              <a:rPr lang="en-GB" sz="2000" dirty="0" err="1">
                <a:solidFill>
                  <a:srgbClr val="CFA6FC"/>
                </a:solidFill>
              </a:rPr>
              <a:t>skeptical</a:t>
            </a:r>
            <a:r>
              <a:rPr lang="en-GB" sz="2000" dirty="0">
                <a:solidFill>
                  <a:srgbClr val="CFA6FC"/>
                </a:solidFill>
              </a:rPr>
              <a:t> about many things: primarily, using any sort of complexity measure in general, but ESPECIALLY trying to ignore differences in neurological tone drive via propofol and how these changes in global or lateralized resonance may give rise to the network specificities they found; general concerns surrounding things like BOLD and metabolic differences throughout the brain; and I guess, really, just this idea that we can tease apart experiential complexity in this manner. It is nice that they didn't rely on retrospective self-report as an index of "happened experiences", but I am sure a clip of audio from a suspenseful film comes with an ENORMOUS amount of cross-structural and trans-hierarchical confounds that a 5-minute 3-Tesla scanner simply cannot handle, and the idea of brining Shannon entropy into that mess is just hilarious to me that they found cool results! 🫠’ – Danny </a:t>
            </a:r>
            <a:r>
              <a:rPr lang="en-GB" sz="2000" dirty="0" err="1">
                <a:solidFill>
                  <a:srgbClr val="CFA6FC"/>
                </a:solidFill>
              </a:rPr>
              <a:t>Nacker</a:t>
            </a:r>
            <a:r>
              <a:rPr lang="en-GB" sz="2000" dirty="0">
                <a:solidFill>
                  <a:srgbClr val="CFA6FC"/>
                </a:solidFill>
              </a:rPr>
              <a:t>, SCCS</a:t>
            </a:r>
          </a:p>
        </p:txBody>
      </p:sp>
      <p:sp>
        <p:nvSpPr>
          <p:cNvPr id="3" name="Subtitle 2">
            <a:extLst>
              <a:ext uri="{FF2B5EF4-FFF2-40B4-BE49-F238E27FC236}">
                <a16:creationId xmlns:a16="http://schemas.microsoft.com/office/drawing/2014/main" id="{C617FFC0-0176-99FF-4A9A-AF471A341494}"/>
              </a:ext>
            </a:extLst>
          </p:cNvPr>
          <p:cNvSpPr>
            <a:spLocks noGrp="1"/>
          </p:cNvSpPr>
          <p:nvPr>
            <p:ph type="subTitle" idx="1"/>
          </p:nvPr>
        </p:nvSpPr>
        <p:spPr>
          <a:xfrm>
            <a:off x="809999" y="5566445"/>
            <a:ext cx="10572000" cy="896468"/>
          </a:xfrm>
        </p:spPr>
        <p:txBody>
          <a:bodyPr/>
          <a:lstStyle/>
          <a:p>
            <a:endParaRPr lang="en-GB"/>
          </a:p>
        </p:txBody>
      </p:sp>
    </p:spTree>
    <p:extLst>
      <p:ext uri="{BB962C8B-B14F-4D97-AF65-F5344CB8AC3E}">
        <p14:creationId xmlns:p14="http://schemas.microsoft.com/office/powerpoint/2010/main" val="205488545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29F0C84-2C14-4FB8-88C2-9577181F2CC2}">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{5D1D1974-3FB9-43C1-AFA2-5D8AD1C4E518}TF4e23ad37-c1a6-42e6-a6ec-6518d97eca9ec3cad5d6_win32-e4fb00466b0d</Template>
  <TotalTime>27</TotalTime>
  <Words>370</Words>
  <Application>Microsoft Office PowerPoint</Application>
  <PresentationFormat>Widescreen</PresentationFormat>
  <Paragraphs>20</Paragraphs>
  <Slides>7</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Aptos</vt:lpstr>
      <vt:lpstr>Arial</vt:lpstr>
      <vt:lpstr>Calibri</vt:lpstr>
      <vt:lpstr>Century Gothic</vt:lpstr>
      <vt:lpstr>Wingdings 2</vt:lpstr>
      <vt:lpstr>Quotable</vt:lpstr>
      <vt:lpstr>The neural correlates of shared and individual experience- Coppola et al. (2026)</vt:lpstr>
      <vt:lpstr>1. Understanding refresher</vt:lpstr>
      <vt:lpstr>2. How is ‘consciousness’ defined here, and does this differ from other definitions you’ve encountered? How does this affect comparisons across consciousness research?</vt:lpstr>
      <vt:lpstr>3. How do the authors create a distinction between shared and individual consciousness, and what do you think of this?</vt:lpstr>
      <vt:lpstr>4. Discuss the limitations of the paper, and suggest ways these could have been overcome</vt:lpstr>
      <vt:lpstr>5. What strengths does this paper have? How does this improve the quality of the study?</vt:lpstr>
      <vt:lpstr>‘I am happy that this paper utilizes Shannon entropy! But, I remain skeptical about many things: primarily, using any sort of complexity measure in general, but ESPECIALLY trying to ignore differences in neurological tone drive via propofol and how these changes in global or lateralized resonance may give rise to the network specificities they found; general concerns surrounding things like BOLD and metabolic differences throughout the brain; and I guess, really, just this idea that we can tease apart experiential complexity in this manner. It is nice that they didn't rely on retrospective self-report as an index of "happened experiences", but I am sure a clip of audio from a suspenseful film comes with an ENORMOUS amount of cross-structural and trans-hierarchical confounds that a 5-minute 3-Tesla scanner simply cannot handle, and the idea of brining Shannon entropy into that mess is just hilarious to me that they found cool results! 🫠’ – Danny Nacker, SCCS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Roisin Sharma</dc:creator>
  <cp:lastModifiedBy>Roisin Sharma</cp:lastModifiedBy>
  <cp:revision>4</cp:revision>
  <dcterms:created xsi:type="dcterms:W3CDTF">2026-04-23T14:32:11Z</dcterms:created>
  <dcterms:modified xsi:type="dcterms:W3CDTF">2026-05-07T15:34:43Z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