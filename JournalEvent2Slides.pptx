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40" r:id="rId5"/>
    <p:sldId id="342" r:id="rId6"/>
    <p:sldId id="356" r:id="rId7"/>
    <p:sldId id="357" r:id="rId8"/>
    <p:sldId id="358" r:id="rId9"/>
    <p:sldId id="3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A6FC"/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0738-DB85-D067-4536-71A9993E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3EBAB-9684-7A4E-2A5F-F98E00B51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40F59-6B13-C9F6-7206-A8973641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7C028-5FB0-5F04-5EB9-0B570A31D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1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40F5-09A0-D75F-1EA0-D52215BA7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A523-DAA2-BECE-5DE4-9251878AF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EE5BB-B989-9E39-62F3-9062E108A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F99AC-2ACC-7D4F-9A8F-E3BA1824A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32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E23B-3114-BEE8-9ED9-C0ECB133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804E6-6C07-AC19-0EE4-43ECDC8BC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7C9A6-4169-4506-EA97-664F2D444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6D64E-B7DE-DA4E-0686-BA8112991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5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63F9F-9BA5-5903-D589-C5F924E4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AE569-41D1-A8C2-58BC-7985CEF2C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A952-E8A5-7F53-A62E-134904D0C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D81E6-15E7-DC63-4FF7-832CFF075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37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12770"/>
            <a:ext cx="10571998" cy="2235759"/>
          </a:xfrm>
        </p:spPr>
        <p:txBody>
          <a:bodyPr/>
          <a:lstStyle/>
          <a:p>
            <a:r>
              <a:rPr lang="en-GB" sz="4400" dirty="0">
                <a:solidFill>
                  <a:srgbClr val="CFA6FC"/>
                </a:solidFill>
              </a:rPr>
              <a:t>The neural correlates of shared and individual experience- Coppola et al. (2026)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FDE52-802B-6858-DF38-9AAFE6B9A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8" y="443768"/>
            <a:ext cx="1519542" cy="17449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8B8D62C-C08E-9BD8-222D-DF437CD8783A}"/>
              </a:ext>
            </a:extLst>
          </p:cNvPr>
          <p:cNvSpPr txBox="1">
            <a:spLocks/>
          </p:cNvSpPr>
          <p:nvPr/>
        </p:nvSpPr>
        <p:spPr>
          <a:xfrm>
            <a:off x="1366157" y="1111690"/>
            <a:ext cx="9459686" cy="1515661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400" i="1" u="sng" dirty="0">
                <a:solidFill>
                  <a:srgbClr val="CFA6FC"/>
                </a:solidFill>
              </a:rPr>
              <a:t>Cognitive Research Article Society Journal Event</a:t>
            </a:r>
            <a:endParaRPr lang="en-US" sz="4400" u="sng" dirty="0">
              <a:solidFill>
                <a:srgbClr val="CFA6FC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9AB5B1-F219-EFE0-6A63-5FB371F70F3F}"/>
              </a:ext>
            </a:extLst>
          </p:cNvPr>
          <p:cNvSpPr txBox="1">
            <a:spLocks/>
          </p:cNvSpPr>
          <p:nvPr/>
        </p:nvSpPr>
        <p:spPr>
          <a:xfrm>
            <a:off x="7043057" y="0"/>
            <a:ext cx="5301342" cy="553826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0" dirty="0">
                <a:solidFill>
                  <a:srgbClr val="CFA6FC"/>
                </a:solidFill>
              </a:rPr>
              <a:t>07/05/2026 Fulton 102 17:00</a:t>
            </a:r>
            <a:endParaRPr lang="en-US" sz="2800" b="0" dirty="0">
              <a:solidFill>
                <a:srgbClr val="CFA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1707565"/>
            <a:ext cx="10571998" cy="192826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CFA6FC"/>
                </a:solidFill>
              </a:rPr>
              <a:t>1. </a:t>
            </a:r>
            <a:r>
              <a:rPr lang="en-GB" dirty="0">
                <a:solidFill>
                  <a:srgbClr val="CFA6FC"/>
                </a:solidFill>
              </a:rPr>
              <a:t>Understanding refresher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999" y="3918857"/>
            <a:ext cx="10572000" cy="221748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FA6FC"/>
                </a:solidFill>
              </a:rPr>
              <a:t>fMRI</a:t>
            </a:r>
          </a:p>
          <a:p>
            <a:r>
              <a:rPr lang="en-GB" dirty="0">
                <a:solidFill>
                  <a:srgbClr val="CFA6FC"/>
                </a:solidFill>
              </a:rPr>
              <a:t>- Time-by-time similarity matrix (TTM)</a:t>
            </a:r>
          </a:p>
          <a:p>
            <a:r>
              <a:rPr lang="en-GB" dirty="0">
                <a:solidFill>
                  <a:srgbClr val="CFA6FC"/>
                </a:solidFill>
              </a:rPr>
              <a:t>- Instantaneous Phase Synchrony (IPS)</a:t>
            </a:r>
          </a:p>
          <a:p>
            <a:r>
              <a:rPr lang="en-GB" dirty="0">
                <a:solidFill>
                  <a:srgbClr val="CFA6FC"/>
                </a:solidFill>
              </a:rPr>
              <a:t>- Networks suggested to be relevant to conscious experience in the study and support individual + shared experience: default mode network (DNM), dorsal attention network (DAN) and auditory networks (AUD)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656F7-54D4-3710-B1C5-EB62BEA1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732F-2705-77B9-73EE-1AD70082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2464868"/>
            <a:ext cx="10571998" cy="1928264"/>
          </a:xfrm>
        </p:spPr>
        <p:txBody>
          <a:bodyPr/>
          <a:lstStyle/>
          <a:p>
            <a:pPr lvl="0"/>
            <a:r>
              <a:rPr lang="en-GB" dirty="0">
                <a:solidFill>
                  <a:srgbClr val="CFA6FC"/>
                </a:solidFill>
              </a:rPr>
              <a:t>2. How is ‘consciousness’ defined here, and does this differ from other definitions you’ve encountered? How does this affect comparisons across consciousness research?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4B3D4-966D-23ED-9D7B-C2E9F8230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999" y="4140417"/>
            <a:ext cx="10572000" cy="896468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821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21452-F887-CAEC-61A9-07F38273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ADF1-FA2E-CDA5-EC8A-9BD0E4E1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2464868"/>
            <a:ext cx="10571998" cy="1928264"/>
          </a:xfrm>
        </p:spPr>
        <p:txBody>
          <a:bodyPr/>
          <a:lstStyle/>
          <a:p>
            <a:pPr lvl="0"/>
            <a:r>
              <a:rPr lang="en-GB" dirty="0">
                <a:solidFill>
                  <a:srgbClr val="CFA6FC"/>
                </a:solidFill>
              </a:rPr>
              <a:t>3. How do the authors create a distinction between shared and individual consciousness, and what do you think of this?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182F91-3F4A-9B57-9266-DBC29482F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65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EBCD4-176E-C032-D050-D0F269B2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20C0-A798-0752-DAD7-F5AD1424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71693"/>
            <a:ext cx="10571998" cy="1928264"/>
          </a:xfrm>
        </p:spPr>
        <p:txBody>
          <a:bodyPr/>
          <a:lstStyle/>
          <a:p>
            <a:r>
              <a:rPr lang="en-GB" dirty="0">
                <a:solidFill>
                  <a:srgbClr val="CFA6FC"/>
                </a:solidFill>
              </a:rPr>
              <a:t>4. Discuss the limitations of the paper, and suggest ways these could have been overcome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2AA3657-6A32-46F1-51FA-3B02897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999" y="4597617"/>
            <a:ext cx="10572000" cy="896468"/>
          </a:xfrm>
        </p:spPr>
        <p:txBody>
          <a:bodyPr/>
          <a:lstStyle/>
          <a:p>
            <a:r>
              <a:rPr lang="en-GB" dirty="0">
                <a:solidFill>
                  <a:srgbClr val="CFA6FC"/>
                </a:solidFill>
              </a:rPr>
              <a:t>- When suggesting alternative approaches, we can discuss how and to what extent that this would have impacted findings- evaluate trade-offs.</a:t>
            </a:r>
          </a:p>
        </p:txBody>
      </p:sp>
    </p:spTree>
    <p:extLst>
      <p:ext uri="{BB962C8B-B14F-4D97-AF65-F5344CB8AC3E}">
        <p14:creationId xmlns:p14="http://schemas.microsoft.com/office/powerpoint/2010/main" val="387157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AF76F-4997-6CF0-1EDF-C0D9C3E57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4E93-E1CD-2854-426E-9291A412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71693"/>
            <a:ext cx="10571998" cy="1928264"/>
          </a:xfrm>
        </p:spPr>
        <p:txBody>
          <a:bodyPr/>
          <a:lstStyle/>
          <a:p>
            <a:pPr lvl="0"/>
            <a:r>
              <a:rPr lang="en-GB" dirty="0">
                <a:solidFill>
                  <a:srgbClr val="CFA6FC"/>
                </a:solidFill>
              </a:rPr>
              <a:t>5. What strengths does this paper have? How does this improve the quality of the study?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EC2A24-86E2-2EE5-0A05-FFDD546A3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3922702"/>
            <a:ext cx="10572000" cy="896468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0530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{5D1D1974-3FB9-43C1-AFA2-5D8AD1C4E518}TF4e23ad37-c1a6-42e6-a6ec-6518d97eca9ec3cad5d6_win32-e4fb00466b0d</Template>
  <TotalTime>16</TotalTime>
  <Words>198</Words>
  <Application>Microsoft Office PowerPoint</Application>
  <PresentationFormat>Widescreen</PresentationFormat>
  <Paragraphs>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Century Gothic</vt:lpstr>
      <vt:lpstr>Wingdings 2</vt:lpstr>
      <vt:lpstr>Quotable</vt:lpstr>
      <vt:lpstr>The neural correlates of shared and individual experience- Coppola et al. (2026)</vt:lpstr>
      <vt:lpstr>1. Understanding refresher</vt:lpstr>
      <vt:lpstr>2. How is ‘consciousness’ defined here, and does this differ from other definitions you’ve encountered? How does this affect comparisons across consciousness research?</vt:lpstr>
      <vt:lpstr>3. How do the authors create a distinction between shared and individual consciousness, and what do you think of this?</vt:lpstr>
      <vt:lpstr>4. Discuss the limitations of the paper, and suggest ways these could have been overcome</vt:lpstr>
      <vt:lpstr>5. What strengths does this paper have? How does this improve the quality of the study?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Roisin Sharma</dc:creator>
  <cp:lastModifiedBy>Roisin Sharma</cp:lastModifiedBy>
  <cp:revision>3</cp:revision>
  <dcterms:created xsi:type="dcterms:W3CDTF">2026-04-23T14:32:11Z</dcterms:created>
  <dcterms:modified xsi:type="dcterms:W3CDTF">2026-05-07T15:24:00Z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