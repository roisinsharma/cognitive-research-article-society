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0" r:id="rId5"/>
    <p:sldId id="342" r:id="rId6"/>
    <p:sldId id="356" r:id="rId7"/>
    <p:sldId id="357" r:id="rId8"/>
    <p:sldId id="358" r:id="rId9"/>
    <p:sldId id="359" r:id="rId10"/>
    <p:sldId id="360" r:id="rId11"/>
    <p:sldId id="361" r:id="rId12"/>
    <p:sldId id="3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A6FC"/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0738-DB85-D067-4536-71A9993E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3EBAB-9684-7A4E-2A5F-F98E00B51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40F59-6B13-C9F6-7206-A8973641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7C028-5FB0-5F04-5EB9-0B570A31D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518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40F5-09A0-D75F-1EA0-D52215BA7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6A523-DAA2-BECE-5DE4-9251878AF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EE5BB-B989-9E39-62F3-9062E108A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F99AC-2ACC-7D4F-9A8F-E3BA1824A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832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E23B-3114-BEE8-9ED9-C0ECB1334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804E6-6C07-AC19-0EE4-43ECDC8BC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7C9A6-4169-4506-EA97-664F2D444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6D64E-B7DE-DA4E-0686-BA8112991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5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63F9F-9BA5-5903-D589-C5F924E4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AE569-41D1-A8C2-58BC-7985CEF2C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AA952-E8A5-7F53-A62E-134904D0C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D81E6-15E7-DC63-4FF7-832CFF075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376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B1DE4-5EF1-CF00-CDC0-6C487AA1E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3AAD6-CC64-0538-5053-98D33BBE2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447DD-5779-AC26-F80D-3DE1E864C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00ABE-A8E1-1A0A-E7AC-B151C02E3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00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65BFB-ED64-349F-8E41-A19B90306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74A9A-D625-BE10-A4A3-3C2A8D73C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99DB4-A1D4-60F2-21EE-F59F5D6A1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E4406-1CA7-AAD9-87F0-E0C3A1679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55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5BEA-1EDD-BB44-331E-9FCDA7CA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57445-11B7-6A54-6B73-D76FDE2C3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C04C8-177E-F7B2-327D-9CDFB8006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3FBA-8BFE-4EE0-4516-73D6A6F24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494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2746549"/>
            <a:ext cx="10571998" cy="2235759"/>
          </a:xfrm>
        </p:spPr>
        <p:txBody>
          <a:bodyPr/>
          <a:lstStyle/>
          <a:p>
            <a:pPr lvl="0"/>
            <a:r>
              <a:rPr lang="en-GB" sz="4400" i="1" dirty="0">
                <a:solidFill>
                  <a:srgbClr val="CFA6FC"/>
                </a:solidFill>
              </a:rPr>
              <a:t>Simultaneity of consciousness with physical reality: the key that unlocks the mind-matter problem - </a:t>
            </a:r>
            <a:r>
              <a:rPr lang="en-GB" sz="4400" i="1" dirty="0" err="1">
                <a:solidFill>
                  <a:srgbClr val="CFA6FC"/>
                </a:solidFill>
              </a:rPr>
              <a:t>Sanfrey</a:t>
            </a:r>
            <a:r>
              <a:rPr lang="en-GB" sz="4400" i="1" dirty="0">
                <a:solidFill>
                  <a:srgbClr val="CFA6FC"/>
                </a:solidFill>
              </a:rPr>
              <a:t>, 2023</a:t>
            </a:r>
            <a:endParaRPr lang="en-US" sz="4400" noProof="0" dirty="0">
              <a:solidFill>
                <a:srgbClr val="CFA6FC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FDE52-802B-6858-DF38-9AAFE6B9A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8" y="443768"/>
            <a:ext cx="1519542" cy="174491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8B8D62C-C08E-9BD8-222D-DF437CD8783A}"/>
              </a:ext>
            </a:extLst>
          </p:cNvPr>
          <p:cNvSpPr txBox="1">
            <a:spLocks/>
          </p:cNvSpPr>
          <p:nvPr/>
        </p:nvSpPr>
        <p:spPr>
          <a:xfrm>
            <a:off x="1366157" y="1111690"/>
            <a:ext cx="9459686" cy="1515661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7200" b="1" kern="1200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400" i="1" u="sng" dirty="0">
                <a:solidFill>
                  <a:srgbClr val="CFA6FC"/>
                </a:solidFill>
              </a:rPr>
              <a:t>Cognitive Research Article Society Journal Event</a:t>
            </a:r>
            <a:endParaRPr lang="en-US" sz="4400" u="sng" dirty="0">
              <a:solidFill>
                <a:srgbClr val="CFA6FC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9AB5B1-F219-EFE0-6A63-5FB371F70F3F}"/>
              </a:ext>
            </a:extLst>
          </p:cNvPr>
          <p:cNvSpPr txBox="1">
            <a:spLocks/>
          </p:cNvSpPr>
          <p:nvPr/>
        </p:nvSpPr>
        <p:spPr>
          <a:xfrm>
            <a:off x="7043057" y="0"/>
            <a:ext cx="5301342" cy="553826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7200" b="1" kern="1200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0" dirty="0">
                <a:solidFill>
                  <a:srgbClr val="CFA6FC"/>
                </a:solidFill>
              </a:rPr>
              <a:t>23/04/2026 Fulton 102 17:00</a:t>
            </a:r>
            <a:endParaRPr lang="en-US" sz="2800" b="0" dirty="0">
              <a:solidFill>
                <a:srgbClr val="CFA6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871693"/>
            <a:ext cx="10571998" cy="192826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CFA6FC"/>
                </a:solidFill>
              </a:rPr>
              <a:t>1. </a:t>
            </a:r>
            <a:r>
              <a:rPr lang="en-GB" dirty="0">
                <a:solidFill>
                  <a:srgbClr val="CFA6FC"/>
                </a:solidFill>
              </a:rPr>
              <a:t>Recap Turing test- what do you think is important to include in a Turing test for consciousness?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999" y="4956845"/>
            <a:ext cx="10572000" cy="896468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656F7-54D4-3710-B1C5-EB62BEA1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2732F-2705-77B9-73EE-1AD70082C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871693"/>
            <a:ext cx="10571998" cy="1928264"/>
          </a:xfrm>
        </p:spPr>
        <p:txBody>
          <a:bodyPr/>
          <a:lstStyle/>
          <a:p>
            <a:pPr lvl="0"/>
            <a:r>
              <a:rPr lang="en-GB" dirty="0">
                <a:solidFill>
                  <a:srgbClr val="CFA6FC"/>
                </a:solidFill>
              </a:rPr>
              <a:t>2. Recap simultaneity argument: what is the 'threshold' for consciousness according to this theory?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4B3D4-966D-23ED-9D7B-C2E9F8230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999" y="4140417"/>
            <a:ext cx="10572000" cy="896468"/>
          </a:xfrm>
        </p:spPr>
        <p:txBody>
          <a:bodyPr/>
          <a:lstStyle/>
          <a:p>
            <a:pPr lvl="0"/>
            <a:r>
              <a:rPr lang="en-GB" dirty="0"/>
              <a:t>How does this compare to your threshold for consciousness?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8215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21452-F887-CAEC-61A9-07F382737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ADF1-FA2E-CDA5-EC8A-9BD0E4E1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871693"/>
            <a:ext cx="10571998" cy="1928264"/>
          </a:xfrm>
        </p:spPr>
        <p:txBody>
          <a:bodyPr/>
          <a:lstStyle/>
          <a:p>
            <a:pPr lvl="0"/>
            <a:r>
              <a:rPr lang="en-GB" dirty="0">
                <a:solidFill>
                  <a:srgbClr val="CFA6FC"/>
                </a:solidFill>
              </a:rPr>
              <a:t>3. Recap the paper's abstract realism argument- the discussion suggests it could be used in a Turing test, is this convincing?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182F91-3F4A-9B57-9266-DBC29482F7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652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EBCD4-176E-C032-D050-D0F269B2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20C0-A798-0752-DAD7-F5AD14243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871693"/>
            <a:ext cx="10571998" cy="1928264"/>
          </a:xfrm>
        </p:spPr>
        <p:txBody>
          <a:bodyPr/>
          <a:lstStyle/>
          <a:p>
            <a:pPr lvl="0"/>
            <a:r>
              <a:rPr lang="en-GB" dirty="0">
                <a:solidFill>
                  <a:srgbClr val="CFA6FC"/>
                </a:solidFill>
              </a:rPr>
              <a:t>4. Is this paper compatible with degrees of consciousness?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2AA3657-6A32-46F1-51FA-3B02897A79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579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AF76F-4997-6CF0-1EDF-C0D9C3E57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4E93-E1CD-2854-426E-9291A412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871693"/>
            <a:ext cx="10571998" cy="1928264"/>
          </a:xfrm>
        </p:spPr>
        <p:txBody>
          <a:bodyPr/>
          <a:lstStyle/>
          <a:p>
            <a:pPr lvl="0"/>
            <a:r>
              <a:rPr lang="en-GB" dirty="0">
                <a:solidFill>
                  <a:srgbClr val="CFA6FC"/>
                </a:solidFill>
              </a:rPr>
              <a:t>5. According to this theory, is a dynamic reality compulsory for consciousness?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EC2A24-86E2-2EE5-0A05-FFDD546A3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3922702"/>
            <a:ext cx="10572000" cy="896468"/>
          </a:xfrm>
        </p:spPr>
        <p:txBody>
          <a:bodyPr/>
          <a:lstStyle/>
          <a:p>
            <a:r>
              <a:rPr lang="en-GB" dirty="0"/>
              <a:t>What would consciousness look like if the observer did not perceive any changes in the matter around them?</a:t>
            </a:r>
          </a:p>
        </p:txBody>
      </p:sp>
    </p:spTree>
    <p:extLst>
      <p:ext uri="{BB962C8B-B14F-4D97-AF65-F5344CB8AC3E}">
        <p14:creationId xmlns:p14="http://schemas.microsoft.com/office/powerpoint/2010/main" val="379053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C7A5F-0AA0-E4F2-2257-DD6C3F7E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5812-0212-14A7-E5A7-FFD5334B1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063158"/>
            <a:ext cx="10571998" cy="1928264"/>
          </a:xfrm>
        </p:spPr>
        <p:txBody>
          <a:bodyPr/>
          <a:lstStyle/>
          <a:p>
            <a:r>
              <a:rPr lang="en-GB" dirty="0">
                <a:solidFill>
                  <a:srgbClr val="CFA6FC"/>
                </a:solidFill>
              </a:rPr>
              <a:t>6. Final section of discussion:</a:t>
            </a:r>
            <a:br>
              <a:rPr lang="en-GB" dirty="0">
                <a:solidFill>
                  <a:srgbClr val="CFA6FC"/>
                </a:solidFill>
              </a:rPr>
            </a:br>
            <a:br>
              <a:rPr lang="en-GB" dirty="0">
                <a:solidFill>
                  <a:srgbClr val="CFA6FC"/>
                </a:solidFill>
              </a:rPr>
            </a:br>
            <a:r>
              <a:rPr lang="en-GB" i="1" dirty="0">
                <a:solidFill>
                  <a:srgbClr val="CFA6FC"/>
                </a:solidFill>
              </a:rPr>
              <a:t>'We cannot even see our own presence without looking from presence. Consciousness cannot be detected by anything that requires movement over time.’</a:t>
            </a:r>
            <a:r>
              <a:rPr lang="en-GB" dirty="0">
                <a:solidFill>
                  <a:srgbClr val="CFA6FC"/>
                </a:solidFill>
              </a:rPr>
              <a:t> </a:t>
            </a:r>
            <a:br>
              <a:rPr lang="en-GB" dirty="0">
                <a:solidFill>
                  <a:srgbClr val="CFA6FC"/>
                </a:solidFill>
              </a:rPr>
            </a:br>
            <a:br>
              <a:rPr lang="en-GB" dirty="0">
                <a:solidFill>
                  <a:srgbClr val="CFA6FC"/>
                </a:solidFill>
              </a:rPr>
            </a:br>
            <a:r>
              <a:rPr lang="en-GB" dirty="0">
                <a:solidFill>
                  <a:srgbClr val="CFA6FC"/>
                </a:solidFill>
              </a:rPr>
              <a:t>Is this a reasonable conclusion? 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F8926F0-12B4-464D-36F2-3635D7074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4991422"/>
            <a:ext cx="10572000" cy="896468"/>
          </a:xfrm>
        </p:spPr>
        <p:txBody>
          <a:bodyPr/>
          <a:lstStyle/>
          <a:p>
            <a:r>
              <a:rPr lang="en-GB" dirty="0"/>
              <a:t>Can we be happy accepting consciousness as impossible for investigation?</a:t>
            </a:r>
          </a:p>
        </p:txBody>
      </p:sp>
    </p:spTree>
    <p:extLst>
      <p:ext uri="{BB962C8B-B14F-4D97-AF65-F5344CB8AC3E}">
        <p14:creationId xmlns:p14="http://schemas.microsoft.com/office/powerpoint/2010/main" val="330531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E439E-229E-A00C-5760-E50AD4227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8077-AEDB-14D6-0E80-79702B977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3" y="2721429"/>
            <a:ext cx="10571998" cy="1224964"/>
          </a:xfrm>
        </p:spPr>
        <p:txBody>
          <a:bodyPr/>
          <a:lstStyle/>
          <a:p>
            <a:r>
              <a:rPr lang="en-GB" dirty="0">
                <a:solidFill>
                  <a:srgbClr val="CFA6FC"/>
                </a:solidFill>
              </a:rPr>
              <a:t>7. Recap what the hard problem is: do you think the hard problem is tackled?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215D93F-3405-CAB9-CF0C-BAFA6AFFA6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09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A6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8CABE-998C-2E8A-8C56-1E9E67270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5CAB-869B-BBCF-8984-DF8794BB1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3" y="2721429"/>
            <a:ext cx="10571998" cy="1224964"/>
          </a:xfrm>
        </p:spPr>
        <p:txBody>
          <a:bodyPr/>
          <a:lstStyle/>
          <a:p>
            <a:r>
              <a:rPr lang="en-GB" dirty="0">
                <a:solidFill>
                  <a:srgbClr val="CFA6FC"/>
                </a:solidFill>
              </a:rPr>
              <a:t>8. Overall, are you convinced by this paper, and has your self-perception changed at all?</a:t>
            </a:r>
            <a:endParaRPr lang="en-US" noProof="0" dirty="0">
              <a:solidFill>
                <a:srgbClr val="CFA6FC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55F101-88B0-F5D1-8193-E17B3536D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4183959"/>
            <a:ext cx="10572000" cy="896468"/>
          </a:xfrm>
        </p:spPr>
        <p:txBody>
          <a:bodyPr/>
          <a:lstStyle/>
          <a:p>
            <a:r>
              <a:rPr lang="en-GB" dirty="0"/>
              <a:t>Are the arguments </a:t>
            </a:r>
            <a:r>
              <a:rPr lang="en-GB" i="1" dirty="0"/>
              <a:t>'truly deductive'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719356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{5D1D1974-3FB9-43C1-AFA2-5D8AD1C4E518}TF4e23ad37-c1a6-42e6-a6ec-6518d97eca9ec3cad5d6_win32-e4fb00466b0d</Template>
  <TotalTime>10</TotalTime>
  <Words>249</Words>
  <Application>Microsoft Office PowerPoint</Application>
  <PresentationFormat>Widescreen</PresentationFormat>
  <Paragraphs>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Century Gothic</vt:lpstr>
      <vt:lpstr>Wingdings 2</vt:lpstr>
      <vt:lpstr>Quotable</vt:lpstr>
      <vt:lpstr>Simultaneity of consciousness with physical reality: the key that unlocks the mind-matter problem - Sanfrey, 2023</vt:lpstr>
      <vt:lpstr>1. Recap Turing test- what do you think is important to include in a Turing test for consciousness?</vt:lpstr>
      <vt:lpstr>2. Recap simultaneity argument: what is the 'threshold' for consciousness according to this theory?</vt:lpstr>
      <vt:lpstr>3. Recap the paper's abstract realism argument- the discussion suggests it could be used in a Turing test, is this convincing?</vt:lpstr>
      <vt:lpstr>4. Is this paper compatible with degrees of consciousness?</vt:lpstr>
      <vt:lpstr>5. According to this theory, is a dynamic reality compulsory for consciousness?</vt:lpstr>
      <vt:lpstr>6. Final section of discussion:  'We cannot even see our own presence without looking from presence. Consciousness cannot be detected by anything that requires movement over time.’   Is this a reasonable conclusion? </vt:lpstr>
      <vt:lpstr>7. Recap what the hard problem is: do you think the hard problem is tackled?</vt:lpstr>
      <vt:lpstr>8. Overall, are you convinced by this paper, and has your self-perception changed at all?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Roisin Sharma</dc:creator>
  <cp:lastModifiedBy>Roisin Sharma</cp:lastModifiedBy>
  <cp:revision>1</cp:revision>
  <dcterms:created xsi:type="dcterms:W3CDTF">2026-04-23T14:32:11Z</dcterms:created>
  <dcterms:modified xsi:type="dcterms:W3CDTF">2026-04-23T14:43:03Z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